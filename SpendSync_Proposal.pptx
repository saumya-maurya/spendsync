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DATA ENGINEERING PORTFOLIO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SpendSync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credit card expense tracker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shared household analytics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490472" cy="329184"/>
          </a:xfrm>
          <a:prstGeom prst="roundRect">
            <a:avLst>
              <a:gd name="adj" fmla="val 16667"/>
            </a:avLst>
          </a:prstGeom>
          <a:solidFill>
            <a:srgbClr val="028090">
              <a:alpha val="7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Apache Airflow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3383280"/>
            <a:ext cx="2359152" cy="329184"/>
          </a:xfrm>
          <a:prstGeom prst="roundRect">
            <a:avLst>
              <a:gd name="adj" fmla="val 16667"/>
            </a:avLst>
          </a:prstGeom>
          <a:solidFill>
            <a:srgbClr val="028090">
              <a:alpha val="7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3383280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 + TimescaleDB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26280" y="3383280"/>
            <a:ext cx="882396" cy="329184"/>
          </a:xfrm>
          <a:prstGeom prst="roundRect">
            <a:avLst>
              <a:gd name="adj" fmla="val 16667"/>
            </a:avLst>
          </a:prstGeom>
          <a:solidFill>
            <a:srgbClr val="028090">
              <a:alpha val="7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383280"/>
            <a:ext cx="882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18404" y="3383280"/>
            <a:ext cx="1316736" cy="329184"/>
          </a:xfrm>
          <a:prstGeom prst="roundRect">
            <a:avLst>
              <a:gd name="adj" fmla="val 16667"/>
            </a:avLst>
          </a:prstGeom>
          <a:solidFill>
            <a:srgbClr val="028090">
              <a:alpha val="7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8404" y="3383280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Native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44868" y="3383280"/>
            <a:ext cx="2185416" cy="329184"/>
          </a:xfrm>
          <a:prstGeom prst="roundRect">
            <a:avLst>
              <a:gd name="adj" fmla="val 16667"/>
            </a:avLst>
          </a:prstGeom>
          <a:solidFill>
            <a:srgbClr val="028090">
              <a:alpha val="7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4868" y="338328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Medallion Architecture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6B4"/>
                </a:solidFill>
              </a:rPr>
              <a:t>Saumya Maurya  ·  github.com/saumya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457200"/>
            <a:ext cx="2560320" cy="2560320"/>
          </a:xfrm>
          <a:prstGeom prst="ellipse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2377440"/>
            <a:ext cx="1645920" cy="1645920"/>
          </a:xfrm>
          <a:prstGeom prst="ellipse">
            <a:avLst/>
          </a:prstGeom>
          <a:solidFill>
            <a:srgbClr val="CADCFC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SpendSync?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SpendSync is a full-stack data engineering project that tracks credit card expenses in real time, visualises spending patterns, and provides AI-powered money-saving recommendations.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Built as a portfolio showcase and a tool I'll actually use day-to-day.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320040"/>
            <a:ext cx="46634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51960" y="320040"/>
            <a:ext cx="91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5760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19472" y="457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Smart ingestion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19472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80"/>
                </a:solidFill>
              </a:rPr>
              <a:t>CSV upload, manual entry, and (v2) Plaid bank API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435608"/>
            <a:ext cx="46634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435608"/>
            <a:ext cx="91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916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19472" y="1572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Medallion pipeline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19472" y="1892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80"/>
                </a:solidFill>
              </a:rPr>
              <a:t>Bronze → Silver → Gold with Airflow DAG orchestration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251960" y="2551176"/>
            <a:ext cx="46634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51960" y="2551176"/>
            <a:ext cx="91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80720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9472" y="26883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Shared tracking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919472" y="30083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80"/>
                </a:solidFill>
              </a:rPr>
              <a:t>Household model with consent-based partner visibility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251960" y="3666744"/>
            <a:ext cx="46634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6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251960" y="3666744"/>
            <a:ext cx="91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92277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19472" y="3803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Recommendations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19472" y="412394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80"/>
                </a:solidFill>
              </a:rPr>
              <a:t>Rule-based alerts + ML-ready swappable engine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6B4"/>
                </a:solidFill>
              </a:rPr>
              <a:t>Medallion pattern: Bronze → Silver → Gold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011680" cy="2834640"/>
          </a:xfrm>
          <a:prstGeom prst="rect">
            <a:avLst/>
          </a:prstGeom>
          <a:solidFill>
            <a:srgbClr val="2A3550"/>
          </a:solidFill>
          <a:ln w="12700">
            <a:solidFill>
              <a:srgbClr val="8A96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2011680" cy="201168"/>
          </a:xfrm>
          <a:prstGeom prst="rect">
            <a:avLst/>
          </a:prstGeom>
          <a:solidFill>
            <a:srgbClr val="8A96B4"/>
          </a:solidFill>
          <a:ln w="12700">
            <a:solidFill>
              <a:srgbClr val="8A9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CSV · Manual ·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2542032"/>
            <a:ext cx="475488" cy="0"/>
          </a:xfrm>
          <a:prstGeom prst="line">
            <a:avLst/>
          </a:prstGeom>
          <a:noFill/>
          <a:ln w="19050">
            <a:solidFill>
              <a:srgbClr val="5A6A80"/>
            </a:solidFill>
            <a:prstDash val="sysDot"/>
          </a:ln>
        </p:spPr>
      </p:sp>
      <p:sp>
        <p:nvSpPr>
          <p:cNvPr id="9" name="Text 7"/>
          <p:cNvSpPr/>
          <p:nvPr/>
        </p:nvSpPr>
        <p:spPr>
          <a:xfrm>
            <a:off x="2651760" y="24505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170432"/>
            <a:ext cx="2011680" cy="2834640"/>
          </a:xfrm>
          <a:prstGeom prst="rect">
            <a:avLst/>
          </a:prstGeom>
          <a:solidFill>
            <a:srgbClr val="7B5A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170432"/>
            <a:ext cx="201168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87168" y="1993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Raw transactions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as received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98848" y="2542032"/>
            <a:ext cx="475488" cy="0"/>
          </a:xfrm>
          <a:prstGeom prst="line">
            <a:avLst/>
          </a:prstGeom>
          <a:noFill/>
          <a:ln w="19050">
            <a:solidFill>
              <a:srgbClr val="5A6A80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4818888" y="24505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54296" y="1170432"/>
            <a:ext cx="2011680" cy="2834640"/>
          </a:xfrm>
          <a:prstGeom prst="rect">
            <a:avLst/>
          </a:prstGeom>
          <a:solidFill>
            <a:srgbClr val="1A4A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170432"/>
            <a:ext cx="201168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54296" y="1993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Dedup · Categorise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Normalise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65976" y="2542032"/>
            <a:ext cx="475488" cy="0"/>
          </a:xfrm>
          <a:prstGeom prst="line">
            <a:avLst/>
          </a:prstGeom>
          <a:noFill/>
          <a:ln w="19050">
            <a:solidFill>
              <a:srgbClr val="5A6A80"/>
            </a:solidFill>
            <a:prstDash val="sysDot"/>
          </a:ln>
        </p:spPr>
      </p:sp>
      <p:sp>
        <p:nvSpPr>
          <p:cNvPr id="21" name="Text 19"/>
          <p:cNvSpPr/>
          <p:nvPr/>
        </p:nvSpPr>
        <p:spPr>
          <a:xfrm>
            <a:off x="6986016" y="24505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0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21424" y="1170432"/>
            <a:ext cx="2011680" cy="2834640"/>
          </a:xfrm>
          <a:prstGeom prst="rect">
            <a:avLst/>
          </a:prstGeom>
          <a:solidFill>
            <a:srgbClr val="1A3A2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1424" y="1170432"/>
            <a:ext cx="201168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21424" y="1993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Aggregated 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for analytics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224528"/>
            <a:ext cx="2011680" cy="685800"/>
          </a:xfrm>
          <a:prstGeom prst="rect">
            <a:avLst/>
          </a:prstGeom>
          <a:solidFill>
            <a:srgbClr val="0D1226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79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Airflow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4544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B4"/>
                </a:solidFill>
              </a:rPr>
              <a:t>DAG orchestration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87168" y="4224528"/>
            <a:ext cx="2011680" cy="685800"/>
          </a:xfrm>
          <a:prstGeom prst="rect">
            <a:avLst/>
          </a:prstGeom>
          <a:solidFill>
            <a:srgbClr val="0D1226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4279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TimescaleDB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87168" y="4544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B4"/>
                </a:solidFill>
              </a:rPr>
              <a:t>Time-series storage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54296" y="4224528"/>
            <a:ext cx="2011680" cy="685800"/>
          </a:xfrm>
          <a:prstGeom prst="rect">
            <a:avLst/>
          </a:prstGeom>
          <a:solidFill>
            <a:srgbClr val="0D1226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4296" y="4279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Docker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54296" y="4544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B4"/>
                </a:solidFill>
              </a:rPr>
              <a:t>Local dev stack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21424" y="4224528"/>
            <a:ext cx="2011680" cy="685800"/>
          </a:xfrm>
          <a:prstGeom prst="rect">
            <a:avLst/>
          </a:prstGeom>
          <a:solidFill>
            <a:srgbClr val="0D1226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1424" y="4279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Great Expectations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21424" y="4544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B4"/>
                </a:solidFill>
              </a:rPr>
              <a:t>Data quality checks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0873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96B4"/>
                </a:solidFill>
              </a:rPr>
              <a:t>Tech stack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 — MVP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Weeks 1–8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Manual transaction entry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CSV import + parse pipeline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Bronze → Gold ETL (Airflow DAGs)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Keyword-based category tagging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Personal dashboard (monthly summary)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Threshold-based alerts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Single-user JWT auth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Docker Compose local stack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005840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05840"/>
            <a:ext cx="2697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6070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 — Shared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4264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Months 2–3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1568" y="192024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Household / partner model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Consent-based data sharing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Row-level PostgreSQL security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Nightly aggregation DAGs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Recurring charge detection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React web dashboard + charts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005840"/>
            <a:ext cx="2697480" cy="822960"/>
          </a:xfrm>
          <a:prstGeom prst="rect">
            <a:avLst/>
          </a:prstGeom>
          <a:solidFill>
            <a:srgbClr val="7B5A00"/>
          </a:solidFill>
          <a:ln w="12700">
            <a:solidFill>
              <a:srgbClr val="7B5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06070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 — AI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4496" y="14264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Month 4+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0216" y="192024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Plaid bank API ingestion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ML category classifier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LLM-powered spend summaries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Mobile push notifications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Great Expectations data quality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260"/>
                </a:solidFill>
              </a:rPr>
              <a:t>Cloud deploy (AWS / GCP)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6B4"/>
                </a:solidFill>
              </a:rPr>
              <a:t>Chosen to showcase production-grade data engineering patterns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02996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</a:rPr>
              <a:t>Backend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62763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Language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82880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3.12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39696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945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239572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FastAPI + Pydantic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706624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76148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Auth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" y="296265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 / OAuth2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73552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32841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Queue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" y="3529584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Celery + Redis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78608" y="1115568"/>
            <a:ext cx="2029968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1115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</a:rPr>
              <a:t>Data &amp; Storage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78608" y="1572768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162763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Database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88336" y="182880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 16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78608" y="2139696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21945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Time-series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88336" y="239572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TimescaleDB ext.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78608" y="2706624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276148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Orchestrate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88336" y="296265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Apache Airflow 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78608" y="3273552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88336" y="332841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Quality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88336" y="3529584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Great Expectations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45736" y="1115568"/>
            <a:ext cx="202996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1115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</a:rPr>
              <a:t>Frontend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45736" y="1572768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162763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Mobile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55464" y="182880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Native (Expo)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45736" y="2139696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5464" y="21945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Web dash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55464" y="239572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+ Recharts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45736" y="2706624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276148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State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55464" y="296265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Zustand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45736" y="3273552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332841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API calls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55464" y="3529584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TanStack Query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12864" y="1115568"/>
            <a:ext cx="2029968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12864" y="111556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</a:rPr>
              <a:t>DevOps &amp; Cloud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912864" y="1572768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1627632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Container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22592" y="182880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Compose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12864" y="2139696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22592" y="2194560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CI/CD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22592" y="239572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12864" y="2706624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22592" y="2761488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Cloud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22592" y="296265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AWS / GCP (v2)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912864" y="3273552"/>
            <a:ext cx="2029968" cy="512064"/>
          </a:xfrm>
          <a:prstGeom prst="rect">
            <a:avLst/>
          </a:prstGeom>
          <a:solidFill>
            <a:srgbClr val="0D1840"/>
          </a:solidFill>
          <a:ln w="6350">
            <a:solidFill>
              <a:srgbClr val="1E2D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22592" y="3328416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6B4"/>
                </a:solidFill>
              </a:rPr>
              <a:t>IaC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22592" y="3529584"/>
            <a:ext cx="1847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Terraform (v2)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Household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463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92608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You (Owner)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Full own transaction history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Partner total spend (with consent)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Partner category breakdown (opt-in)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Household combined analytics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Control all sharing settings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005840"/>
            <a:ext cx="2926080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Partner (Guest)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1664208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Full own transaction history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Own dashboards and alerts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Shared categories (if granted)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Cannot see partner's line items</a:t>
            </a:r>
            <a:endParaRPr lang="en-US" sz="11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</a:rPr>
              <a:t>Revocable access at any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542032"/>
            <a:ext cx="457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331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consent-based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sharing ▶◀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675120" y="1005840"/>
            <a:ext cx="21488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1005840"/>
            <a:ext cx="214884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170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Security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1600200"/>
            <a:ext cx="1920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4260"/>
                </a:solidFill>
              </a:rPr>
              <a:t>PostgreSQL Row-Level Security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4260"/>
                </a:solidFill>
              </a:rPr>
              <a:t>JWT token auth on all endpoints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4260"/>
                </a:solidFill>
              </a:rPr>
              <a:t>Consent stored &amp; auditable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4260"/>
                </a:solidFill>
              </a:rPr>
              <a:t>Revoke access any time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4260"/>
                </a:solidFill>
              </a:rPr>
              <a:t>No cross-user data leakage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A4260"/>
                </a:solidFill>
              </a:rPr>
              <a:t>Explicit unit tests for RLS policies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Repository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spendsync/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331720" y="1005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monorepo root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473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56362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15636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FastAPI routes &amp; schemas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4251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pipeline/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31720" y="18425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Bronze→Silver→Gold ETL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bronze/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21214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raw ingestion loaders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4003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silver/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24003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dedup &amp; transform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6791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gold/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31720" y="2679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aggregation jobs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95808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airflow/dags/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31720" y="29580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DAG definitions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2369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models/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323697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SQLAlchemy + TimescaleDB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mobile/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1005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React Native (Expo)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28473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web/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83680" y="12847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React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156362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infra/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15636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 Compose + Terraform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184251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data_quality/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83680" y="18425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Great Expectations suites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21214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0" y="212140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unit + integration tests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24003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0" y="24003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architecture diagrams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26791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.github/workflows/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83680" y="2679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CI/CD pipelines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295808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583680" y="29580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overview &amp; setup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160520"/>
            <a:ext cx="8321040" cy="731520"/>
          </a:xfrm>
          <a:prstGeom prst="rect">
            <a:avLst/>
          </a:prstGeom>
          <a:solidFill>
            <a:srgbClr val="0D1226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160520"/>
            <a:ext cx="9144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519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README strategy:  Architecture diagram · Data quality metrics · Demo GIFs · "How to run" in &lt; 5 steps · Portfolio context section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0584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26974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34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07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Medallion architecture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6072" y="166420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70"/>
                </a:solidFill>
              </a:rPr>
              <a:t>Bronze→Silver→Gold is the pattern used at Databricks, Snowflake, and enterprise data lakes. Naming it explicitly signals fluency.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64408" y="100584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64408" y="1005840"/>
            <a:ext cx="2697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1207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Airflow DAG design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166420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70"/>
                </a:solidFill>
              </a:rPr>
              <a:t>Directly extends your airflow-etl-orchestration portfolio project. Real scheduling, retries, and dependency management.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17336" y="100584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17336" y="1005840"/>
            <a:ext cx="2697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2344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11696" y="1207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TimescaleDB time-series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81928" y="166420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70"/>
                </a:solidFill>
              </a:rPr>
              <a:t>Shows deliberate tech selection for a time-series workload — not just defaulting to Postgres.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11480" y="27432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1480" y="2743200"/>
            <a:ext cx="269748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97180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944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Row-level security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76072" y="340156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70"/>
                </a:solidFill>
              </a:rPr>
              <a:t>Production-quality multi-tenant data isolation. The kind of detail that separates junior from senior engineers.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64408" y="27432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64408" y="2743200"/>
            <a:ext cx="2697480" cy="91440"/>
          </a:xfrm>
          <a:prstGeom prst="rect">
            <a:avLst/>
          </a:prstGeom>
          <a:solidFill>
            <a:srgbClr val="7B5A00"/>
          </a:solidFill>
          <a:ln w="12700">
            <a:solidFill>
              <a:srgbClr val="7B5A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97180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58768" y="2944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Data quality gates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340156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70"/>
                </a:solidFill>
              </a:rPr>
              <a:t>Great Expectations checks at each layer transition shows you care about data reliability, not just pipelines.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17336" y="2743200"/>
            <a:ext cx="26974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17336" y="2743200"/>
            <a:ext cx="2697480" cy="9144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297180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11696" y="2944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Real-world usage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81928" y="3401568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70"/>
                </a:solidFill>
              </a:rPr>
              <a:t>This is a tool you and your partner actually use — interviewers can tell. It demonstrates product thinking alongside engineering.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CADCFC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build.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SpendSync is scoped for 8 weeks to MVP,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designed to grow into a production system.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</a:rPr>
              <a:t>Initialise monorepo with Docker Compose dev stack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</a:rPr>
              <a:t>Design PostgreSQL schema (users, transactions, households)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</a:rPr>
              <a:t>Build first Airflow DAG: CSV → Bronze → Silver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FFFFFF"/>
                </a:solidFill>
              </a:rPr>
              <a:t>Ship personal dashboard v1 in React Native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6B4"/>
                </a:solidFill>
              </a:rPr>
              <a:t>github.com/saumya  ·  SpendSync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SpendSync — Project Proposal</dc:title>
  <dc:subject>PptxGenJS Presentation</dc:subject>
  <dc:creator>Saumya Maurya</dc:creator>
  <cp:lastModifiedBy>Saumya Maurya</cp:lastModifiedBy>
  <cp:revision>1</cp:revision>
  <dcterms:created xsi:type="dcterms:W3CDTF">2026-04-20T01:50:10Z</dcterms:created>
  <dcterms:modified xsi:type="dcterms:W3CDTF">2026-04-20T01:50:10Z</dcterms:modified>
</cp:coreProperties>
</file>